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/>
            </a:pPr>
            <a:r>
              <a:t>1. Dragones de fantasía medieval generados con una GAN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6304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/>
            </a:pPr>
            <a:r>
              <a:t>• Proyecto 2 · Deep Learning 2026 · Universidad del Valle de Guatemala</a:t>
            </a:r>
          </a:p>
          <a:p>
            <a:pPr>
              <a:spcAft>
                <a:spcPts val="800"/>
              </a:spcAft>
              <a:defRPr sz="1800"/>
            </a:pPr>
            <a:r>
              <a:t>• Daniel Estrada y Daniela Ramírez de León</a:t>
            </a:r>
          </a:p>
          <a:p>
            <a:pPr>
              <a:spcAft>
                <a:spcPts val="800"/>
              </a:spcAft>
              <a:defRPr sz="1800"/>
            </a:pPr>
            <a:r>
              <a:t>• Universo: dragones de fantasía medieval, con escamas, cuernos y alas</a:t>
            </a:r>
          </a:p>
          <a:p>
            <a:pPr>
              <a:spcAft>
                <a:spcPts val="800"/>
              </a:spcAft>
              <a:defRPr sz="1800"/>
            </a:pPr>
            <a:r>
              <a:t>• Estilo: ilustración, colores terrosos y oscuros, cielos y fondos simples</a:t>
            </a:r>
          </a:p>
          <a:p>
            <a:pPr>
              <a:spcAft>
                <a:spcPts val="800"/>
              </a:spcAft>
              <a:defRPr sz="1800"/>
            </a:pPr>
            <a:r>
              <a:t>• Referencia visual: Game of Thrones. Los personajes deben ser nuevos</a:t>
            </a:r>
          </a:p>
          <a:p>
            <a:pPr>
              <a:spcAft>
                <a:spcPts val="800"/>
              </a:spcAft>
              <a:defRPr sz="1800"/>
            </a:pPr>
            <a:r>
              <a:t>• Vara para juzgar la galería: que se reconozca un dragón, con cabeza y cuerpo o alas, y que no repita a otro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/>
            </a:pPr>
            <a:r>
              <a:t>2. Datos: origen, permiso y preparación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63040"/>
            <a:ext cx="6675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/>
            </a:pPr>
            <a:r>
              <a:t>• Dino or Dragon? de agrigorev (Kaggle, versión 1). Licencia CC0</a:t>
            </a:r>
          </a:p>
          <a:p>
            <a:pPr>
              <a:spcAft>
                <a:spcPts val="800"/>
              </a:spcAft>
              <a:defRPr sz="1800"/>
            </a:pPr>
            <a:r>
              <a:t>• Imágenes sintéticas de Stable Diffusion v1.4; no son fotogramas de la serie</a:t>
            </a:r>
          </a:p>
          <a:p>
            <a:pPr>
              <a:spcAft>
                <a:spcPts val="800"/>
              </a:spcAft>
              <a:defRPr sz="1800"/>
            </a:pPr>
            <a:r>
              <a:t>• 965 dragones revisados: 0 archivos dañados y 0 duplicados</a:t>
            </a:r>
          </a:p>
          <a:p>
            <a:pPr>
              <a:spcAft>
                <a:spcPts val="800"/>
              </a:spcAft>
              <a:defRPr sz="1800"/>
            </a:pPr>
            <a:r>
              <a:t>• 9 descartadas: 5 cartas con texto, 1 negra, 2 recortes extremos, 1 foto de un dibujo</a:t>
            </a:r>
          </a:p>
          <a:p>
            <a:pPr>
              <a:spcAft>
                <a:spcPts val="800"/>
              </a:spcAft>
              <a:defRPr sz="1800"/>
            </a:pPr>
            <a:r>
              <a:t>• Versión final: 956 imágenes, misma para los tres experimentos</a:t>
            </a:r>
          </a:p>
          <a:p>
            <a:pPr>
              <a:spcAft>
                <a:spcPts val="800"/>
              </a:spcAft>
              <a:defRPr sz="1800"/>
            </a:pPr>
            <a:r>
              <a:t>• Preparación: RGB, 512×512 a 64×64 con Lanczos, normalización a [-1, 1]</a:t>
            </a:r>
          </a:p>
          <a:p>
            <a:pPr>
              <a:spcAft>
                <a:spcPts val="800"/>
              </a:spcAft>
              <a:defRPr sz="1800"/>
            </a:pPr>
            <a:r>
              <a:t>• Aumento: volteo horizontal aleatorio (p = 0,5)</a:t>
            </a:r>
          </a:p>
        </p:txBody>
      </p:sp>
      <p:pic>
        <p:nvPicPr>
          <p:cNvPr id="4" name="Picture 3" descr="muestra_cargad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1554480"/>
            <a:ext cx="457200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/>
            </a:pPr>
            <a:r>
              <a:t>3. Arquitectura: DCGAN de 64×64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6304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/>
            </a:pPr>
            <a:r>
              <a:t>• Elegida por ser la base más simple y estable para pocos datos y 64×64</a:t>
            </a:r>
          </a:p>
          <a:p>
            <a:pPr>
              <a:spcAft>
                <a:spcPts val="800"/>
              </a:spcAft>
              <a:defRPr sz="1800"/>
            </a:pPr>
            <a:r>
              <a:t>• Generador: z de 100 → 4 convoluciones transpuestas con BatchNorm y ReLU → Tanh</a:t>
            </a:r>
          </a:p>
          <a:p>
            <a:pPr>
              <a:spcAft>
                <a:spcPts val="800"/>
              </a:spcAft>
              <a:defRPr sz="1800"/>
            </a:pPr>
            <a:r>
              <a:t>• Canales del generador: 512, 256, 128, 64, 3 (3,6 millones de parámetros)</a:t>
            </a:r>
          </a:p>
          <a:p>
            <a:pPr>
              <a:spcAft>
                <a:spcPts val="800"/>
              </a:spcAft>
              <a:defRPr sz="1800"/>
            </a:pPr>
            <a:r>
              <a:t>• Discriminador: 4 convoluciones con BatchNorm y LeakyReLU(0,2) → 1 logit (2,8 millones)</a:t>
            </a:r>
          </a:p>
          <a:p>
            <a:pPr>
              <a:spcAft>
                <a:spcPts val="800"/>
              </a:spcAft>
              <a:defRPr sz="1800"/>
            </a:pPr>
            <a:r>
              <a:t>• Adam, lr 0,0002, betas (0,5; 0,999), lote 64, 600 épocas, semilla 42</a:t>
            </a:r>
          </a:p>
          <a:p>
            <a:pPr>
              <a:spcAft>
                <a:spcPts val="800"/>
              </a:spcAft>
              <a:defRPr sz="1800"/>
            </a:pPr>
            <a:r>
              <a:t>• El código regenera la galería desde las semillas y vectores z guardados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/>
            </a:pPr>
            <a:r>
              <a:t>4. Experimentos: hipótesis previas y control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6304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/>
            </a:pPr>
            <a:r>
              <a:t>• Un solo cambio por variante; mismos datos, semilla, épocas, z y ruido fijo</a:t>
            </a:r>
          </a:p>
          <a:p>
            <a:pPr>
              <a:spcAft>
                <a:spcPts val="800"/>
              </a:spcAft>
              <a:defRPr sz="1800"/>
            </a:pPr>
            <a:r>
              <a:t>• Pérdida: no saturante (base) frente a minimax original</a:t>
            </a:r>
          </a:p>
          <a:p>
            <a:pPr>
              <a:spcAft>
                <a:spcPts val="800"/>
              </a:spcAft>
              <a:defRPr sz="1800"/>
            </a:pPr>
            <a:r>
              <a:t>• Hipótesis: creemos que la no saturante mejorará el aprendizaje porque minimax da gradientes casi nulos cuando D rechaza con confianza. Útil si aparecen dragones antes o mejores, sin perder diversidad</a:t>
            </a:r>
          </a:p>
          <a:p>
            <a:pPr>
              <a:spcAft>
                <a:spcPts val="800"/>
              </a:spcAft>
              <a:defRPr sz="1800"/>
            </a:pPr>
            <a:r>
              <a:t>• Estabilización: normalización espectral en D frente a BatchNorm</a:t>
            </a:r>
          </a:p>
          <a:p>
            <a:pPr>
              <a:spcAft>
                <a:spcPts val="800"/>
              </a:spcAft>
              <a:defRPr sz="1800"/>
            </a:pPr>
            <a:r>
              <a:t>• Hipótesis: creemos que mejorará estabilidad y diversidad porque limita a D. Útil si D(real) y D(fake) se alejan de 1 y 0 y el ruido fijo conserva diversidad</a:t>
            </a:r>
          </a:p>
          <a:p>
            <a:pPr>
              <a:spcAft>
                <a:spcPts val="800"/>
              </a:spcAft>
              <a:defRPr sz="1800"/>
            </a:pPr>
            <a:r>
              <a:t>• Hipótesis escritas antes de entrenar: docs/hypotheses/v3/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/>
            </a:pPr>
            <a:r>
              <a:t>5. Resultados de los experimentos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6304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/>
            </a:pPr>
            <a:r>
              <a:t>• PENDIENTE: tabla con D(real), D(fake), pérdida D y diversidad por variante</a:t>
            </a:r>
          </a:p>
          <a:p>
            <a:pPr>
              <a:spcAft>
                <a:spcPts val="800"/>
              </a:spcAft>
              <a:defRPr sz="1800"/>
            </a:pPr>
            <a:r>
              <a:t>• PENDIENTE: ¿se cumplió la hipótesis de pérdida? Evidencia</a:t>
            </a:r>
          </a:p>
          <a:p>
            <a:pPr>
              <a:spcAft>
                <a:spcPts val="800"/>
              </a:spcAft>
              <a:defRPr sz="1800"/>
            </a:pPr>
            <a:r>
              <a:t>• PENDIENTE: ¿se cumplió la hipótesis de estabilización? Evidencia</a:t>
            </a:r>
          </a:p>
          <a:p>
            <a:pPr>
              <a:spcAft>
                <a:spcPts val="800"/>
              </a:spcAft>
              <a:defRPr sz="1800"/>
            </a:pPr>
            <a:r>
              <a:t>• PENDIENTE: modelo y época elegidos, y por qué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/>
            </a:pPr>
            <a:r>
              <a:t>6. Evidencia 1: rejilla de ruido fijo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6304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/>
            </a:pPr>
            <a:r>
              <a:t>• Los mismos 16 vectores z en varias épocas</a:t>
            </a:r>
          </a:p>
          <a:p>
            <a:pPr>
              <a:spcAft>
                <a:spcPts val="800"/>
              </a:spcAft>
              <a:defRPr sz="1800"/>
            </a:pPr>
            <a:r>
              <a:t>• PENDIENTE: en qué época aparecen formas reconocibles</a:t>
            </a:r>
          </a:p>
          <a:p>
            <a:pPr>
              <a:spcAft>
                <a:spcPts val="800"/>
              </a:spcAft>
              <a:defRPr sz="1800"/>
            </a:pPr>
            <a:r>
              <a:t>• PENDIENTE: posiciones que empiezan a parecerse entre sí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/>
            </a:pPr>
            <a:r>
              <a:t>7. Evidencia 2: curvas de pérdida interpretadas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6304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/>
            </a:pPr>
            <a:r>
              <a:t>• En una GAN sana las curvas no bajan juntas: se estabilizan enfrentadas</a:t>
            </a:r>
          </a:p>
          <a:p>
            <a:pPr>
              <a:spcAft>
                <a:spcPts val="800"/>
              </a:spcAft>
              <a:defRPr sz="1800"/>
            </a:pPr>
            <a:r>
              <a:t>• PENDIENTE: qué muestran las curvas de G y D de cada variante</a:t>
            </a:r>
          </a:p>
          <a:p>
            <a:pPr>
              <a:spcAft>
                <a:spcPts val="800"/>
              </a:spcAft>
              <a:defRPr sz="1800"/>
            </a:pPr>
            <a:r>
              <a:t>• PENDIENTE: épocas con D cercano a cero o picos de 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/>
            </a:pPr>
            <a:r>
              <a:t>8. Problemas encontrados y decisiones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6304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/>
            </a:pPr>
            <a:r>
              <a:t>• Primera selección: solo cuerpo completo, 22 imágenes</a:t>
            </a:r>
          </a:p>
          <a:p>
            <a:pPr>
              <a:spcAft>
                <a:spcPts val="800"/>
              </a:spcAft>
              <a:defRPr sz="1800"/>
            </a:pPr>
            <a:r>
              <a:t>• Resultado: colapso de modos. Las 16 muestras eran casi iguales y D(fake) ≈ 0,01</a:t>
            </a:r>
          </a:p>
          <a:p>
            <a:pPr>
              <a:spcAft>
                <a:spcPts val="800"/>
              </a:spcAft>
              <a:defRPr sz="1800"/>
            </a:pPr>
            <a:r>
              <a:t>• 0 de 600 candidatos aceptados. Se conserva como evidencia del fallo</a:t>
            </a:r>
          </a:p>
          <a:p>
            <a:pPr>
              <a:spcAft>
                <a:spcPts val="800"/>
              </a:spcAft>
              <a:defRPr sz="1800"/>
            </a:pPr>
            <a:r>
              <a:t>• Decisión: usar todos los dragones, agregar volteo y subir a 64 canales base</a:t>
            </a:r>
          </a:p>
          <a:p>
            <a:pPr>
              <a:spcAft>
                <a:spcPts val="800"/>
              </a:spcAft>
              <a:defRPr sz="1800"/>
            </a:pPr>
            <a:r>
              <a:t>• Decisión: cambiar la estabilización de ruido en D a normalización espectral</a:t>
            </a:r>
          </a:p>
          <a:p>
            <a:pPr>
              <a:spcAft>
                <a:spcPts val="800"/>
              </a:spcAft>
              <a:defRPr sz="1800"/>
            </a:pPr>
            <a:r>
              <a:t>• PENDIENTE: problemas observados en el entrenamiento final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/>
            </a:pPr>
            <a:r>
              <a:t>9. Galería: diez personajes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6304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/>
            </a:pPr>
            <a:r>
              <a:t>• PENDIENTE: los diez PNG con nombre y clase</a:t>
            </a:r>
          </a:p>
          <a:p>
            <a:pPr>
              <a:spcAft>
                <a:spcPts val="800"/>
              </a:spcAft>
              <a:defRPr sz="1800"/>
            </a:pPr>
            <a:r>
              <a:t>• PENDIENTE: tasa de selección = 10 ÷ candidatos generados × 100</a:t>
            </a:r>
          </a:p>
          <a:p>
            <a:pPr>
              <a:spcAft>
                <a:spcPts val="800"/>
              </a:spcAft>
              <a:defRPr sz="1800"/>
            </a:pPr>
            <a:r>
              <a:t>• Criterio: seis notas de 0 a 2 definidas antes de ver los candidatos</a:t>
            </a:r>
          </a:p>
          <a:p>
            <a:pPr>
              <a:spcAft>
                <a:spcPts val="800"/>
              </a:spcAft>
              <a:defRPr sz="1800"/>
            </a:pPr>
            <a:r>
              <a:t>• Se acepta con dragón = 2, ningún criterio en 0 y suma de 9 o más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/>
            </a:pPr>
            <a:r>
              <a:t>10. Evidencia 3: vecinos más cercanos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6304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/>
            </a:pPr>
            <a:r>
              <a:t>• Cada personaje junto a sus 5 imágenes de entrenamiento más parecidas</a:t>
            </a:r>
          </a:p>
          <a:p>
            <a:pPr>
              <a:spcAft>
                <a:spcPts val="800"/>
              </a:spcAft>
              <a:defRPr sz="1800"/>
            </a:pPr>
            <a:r>
              <a:t>• Métrica principal: características de ResNet-18 preentrenada</a:t>
            </a:r>
          </a:p>
          <a:p>
            <a:pPr>
              <a:spcAft>
                <a:spcPts val="800"/>
              </a:spcAft>
              <a:defRPr sz="1800"/>
            </a:pPr>
            <a:r>
              <a:t>• Comprobaciones: píxeles y forma en grises; también contra imágenes volteadas</a:t>
            </a:r>
          </a:p>
          <a:p>
            <a:pPr>
              <a:spcAft>
                <a:spcPts val="800"/>
              </a:spcAft>
              <a:defRPr sz="1800"/>
            </a:pPr>
            <a:r>
              <a:t>• Referencia: distancia entre imágenes reales. Alerta si queda bajo el percentil 5</a:t>
            </a:r>
          </a:p>
          <a:p>
            <a:pPr>
              <a:spcAft>
                <a:spcPts val="800"/>
              </a:spcAft>
              <a:defRPr sz="1800"/>
            </a:pPr>
            <a:r>
              <a:t>• Prueba del método: detecta una copia exacta y una volteada con distancia 0</a:t>
            </a:r>
          </a:p>
          <a:p>
            <a:pPr>
              <a:spcAft>
                <a:spcPts val="800"/>
              </a:spcAft>
              <a:defRPr sz="1800"/>
            </a:pPr>
            <a:r>
              <a:t>• PENDIENTE: figura y distancias de los diez personajes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/>
            </a:pPr>
            <a:r>
              <a:t>11. Reflexión, conclusiones y limitaciones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6304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/>
            </a:pPr>
            <a:r>
              <a:t>• PENDIENTE: el personaje más difícil de defender como nuevo y qué dice de lo que aprendió la GAN</a:t>
            </a:r>
          </a:p>
          <a:p>
            <a:pPr>
              <a:spcAft>
                <a:spcPts val="800"/>
              </a:spcAft>
              <a:defRPr sz="1800"/>
            </a:pPr>
            <a:r>
              <a:t>• PENDIENTE: conclusiones de los dos experimentos</a:t>
            </a:r>
          </a:p>
          <a:p>
            <a:pPr>
              <a:spcAft>
                <a:spcPts val="800"/>
              </a:spcAft>
              <a:defRPr sz="1800"/>
            </a:pPr>
            <a:r>
              <a:t>• Limitación: datos sintéticos que heredan errores de anatomía de Stable Diffusion</a:t>
            </a:r>
          </a:p>
          <a:p>
            <a:pPr>
              <a:spcAft>
                <a:spcPts val="800"/>
              </a:spcAft>
              <a:defRPr sz="1800"/>
            </a:pPr>
            <a:r>
              <a:t>• Limitación: 956 imágenes de estilos mezclados y resolución de 64×64</a:t>
            </a:r>
          </a:p>
          <a:p>
            <a:pPr>
              <a:spcAft>
                <a:spcPts val="800"/>
              </a:spcAft>
              <a:defRPr sz="1800"/>
            </a:pPr>
            <a:r>
              <a:t>• Limitación: una sola semilla; la evaluación visual es subjetiva</a:t>
            </a:r>
          </a:p>
          <a:p>
            <a:pPr>
              <a:spcAft>
                <a:spcPts val="800"/>
              </a:spcAft>
              <a:defRPr sz="1800"/>
            </a:pPr>
            <a:r>
              <a:t>• Los vecinos aportan evidencia de semejanza, no prueban novedad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/>
            </a:pPr>
            <a:r>
              <a:t>12. Matriz de evidencias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6304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/>
            </a:pPr>
            <a:r>
              <a:t>• Universo y datos · diap. 1 y 2 · origen CC0 documentado · datos sintéticos</a:t>
            </a:r>
          </a:p>
          <a:p>
            <a:pPr>
              <a:spcAft>
                <a:spcPts val="800"/>
              </a:spcAft>
              <a:defRPr sz="1800"/>
            </a:pPr>
            <a:r>
              <a:t>• GAN y regeneración · diap. 3 · PENDIENTE · PENDIENTE</a:t>
            </a:r>
          </a:p>
          <a:p>
            <a:pPr>
              <a:spcAft>
                <a:spcPts val="800"/>
              </a:spcAft>
              <a:defRPr sz="1800"/>
            </a:pPr>
            <a:r>
              <a:t>• Experimento de pérdida · diap. 4 y 5 · PENDIENTE · una semilla</a:t>
            </a:r>
          </a:p>
          <a:p>
            <a:pPr>
              <a:spcAft>
                <a:spcPts val="800"/>
              </a:spcAft>
              <a:defRPr sz="1800"/>
            </a:pPr>
            <a:r>
              <a:t>• Experimento de estabilización · diap. 4 y 5 · PENDIENTE · una semilla</a:t>
            </a:r>
          </a:p>
          <a:p>
            <a:pPr>
              <a:spcAft>
                <a:spcPts val="800"/>
              </a:spcAft>
              <a:defRPr sz="1800"/>
            </a:pPr>
            <a:r>
              <a:t>• Ruido fijo · diap. 6 · PENDIENTE · 16 vectores</a:t>
            </a:r>
          </a:p>
          <a:p>
            <a:pPr>
              <a:spcAft>
                <a:spcPts val="800"/>
              </a:spcAft>
              <a:defRPr sz="1800"/>
            </a:pPr>
            <a:r>
              <a:t>• Curvas de pérdida · diap. 7 · PENDIENTE · no miden calidad</a:t>
            </a:r>
          </a:p>
          <a:p>
            <a:pPr>
              <a:spcAft>
                <a:spcPts val="800"/>
              </a:spcAft>
              <a:defRPr sz="1800"/>
            </a:pPr>
            <a:r>
              <a:t>• Galería y tasa de selección · diap. 9 · PENDIENTE · selección subjetiva</a:t>
            </a:r>
          </a:p>
          <a:p>
            <a:pPr>
              <a:spcAft>
                <a:spcPts val="800"/>
              </a:spcAft>
              <a:defRPr sz="1800"/>
            </a:pPr>
            <a:r>
              <a:t>• Vecinos más cercanos · diap. 10 · PENDIENTE · no prueban novedad</a:t>
            </a:r>
          </a:p>
          <a:p>
            <a:pPr>
              <a:spcAft>
                <a:spcPts val="800"/>
              </a:spcAft>
              <a:defRPr sz="1800"/>
            </a:pPr>
            <a:r>
              <a:t>• Fallos y colapso · diap. 8 · colapso con 22 imágenes · causa no aislada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/>
            </a:pPr>
            <a:r>
              <a:t>Anexo A. Criterios de evaluación de candidatos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6304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/>
            </a:pPr>
            <a:r>
              <a:t>• dragon: ¿se reconoce como dragón?</a:t>
            </a:r>
          </a:p>
          <a:p>
            <a:pPr>
              <a:spcAft>
                <a:spcPts val="800"/>
              </a:spcAft>
              <a:defRPr sz="1800"/>
            </a:pPr>
            <a:r>
              <a:t>• cuerpo_alas: ¿se ven cuerpo y alas?</a:t>
            </a:r>
          </a:p>
          <a:p>
            <a:pPr>
              <a:spcAft>
                <a:spcPts val="800"/>
              </a:spcAft>
              <a:defRPr sz="1800"/>
            </a:pPr>
            <a:r>
              <a:t>• universo: ¿encaja en fantasía medieval?</a:t>
            </a:r>
          </a:p>
          <a:p>
            <a:pPr>
              <a:spcAft>
                <a:spcPts val="800"/>
              </a:spcAft>
              <a:defRPr sz="1800"/>
            </a:pPr>
            <a:r>
              <a:t>• anatomia: ¿tiene deformaciones?</a:t>
            </a:r>
          </a:p>
          <a:p>
            <a:pPr>
              <a:spcAft>
                <a:spcPts val="800"/>
              </a:spcAft>
              <a:defRPr sz="1800"/>
            </a:pPr>
            <a:r>
              <a:t>• distinto: ¿se diferencia de otros candidatos?</a:t>
            </a:r>
          </a:p>
          <a:p>
            <a:pPr>
              <a:spcAft>
                <a:spcPts val="800"/>
              </a:spcAft>
              <a:defRPr sz="1800"/>
            </a:pPr>
            <a:r>
              <a:t>• novedad: ¿se diferencia del entrenamiento?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/>
            </a:pPr>
            <a:r>
              <a:t>Anexo B. Uso de asistentes de 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6304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/>
            </a:pPr>
            <a:r>
              <a:t>• Se usaron asistentes de IA para programar, revisar el dataset y documentar</a:t>
            </a:r>
          </a:p>
          <a:p>
            <a:pPr>
              <a:spcAft>
                <a:spcPts val="800"/>
              </a:spcAft>
              <a:defRPr sz="1800"/>
            </a:pPr>
            <a:r>
              <a:t>• Detalle en README.md</a:t>
            </a:r>
          </a:p>
          <a:p>
            <a:pPr>
              <a:spcAft>
                <a:spcPts val="800"/>
              </a:spcAft>
              <a:defRPr sz="1800"/>
            </a:pPr>
            <a:r>
              <a:t>• Ninguna imagen de la galería proviene de un generador externo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