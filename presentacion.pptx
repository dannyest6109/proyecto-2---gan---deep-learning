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1. Dragones de fantasía medieval generados con una 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Proyecto 2 · Deep Learning 2026 · Universidad del Valle de Guatemala</a:t>
            </a:r>
          </a:p>
          <a:p>
            <a:pPr>
              <a:spcAft>
                <a:spcPts val="600"/>
              </a:spcAft>
              <a:defRPr sz="1800"/>
            </a:pPr>
            <a:r>
              <a:t>• Daniel Estrada y Daniela Ramírez de León</a:t>
            </a:r>
          </a:p>
          <a:p>
            <a:pPr>
              <a:spcAft>
                <a:spcPts val="600"/>
              </a:spcAft>
              <a:defRPr sz="1800"/>
            </a:pPr>
            <a:r>
              <a:t>• Universo: dragones de fantasía medieval, con escamas, cuernos y alas</a:t>
            </a:r>
          </a:p>
          <a:p>
            <a:pPr>
              <a:spcAft>
                <a:spcPts val="600"/>
              </a:spcAft>
              <a:defRPr sz="1800"/>
            </a:pPr>
            <a:r>
              <a:t>• Estilo: ilustración, colores terrosos y oscuros, cielos y fondos simples</a:t>
            </a:r>
          </a:p>
          <a:p>
            <a:pPr>
              <a:spcAft>
                <a:spcPts val="600"/>
              </a:spcAft>
              <a:defRPr sz="1800"/>
            </a:pPr>
            <a:r>
              <a:t>• Referencia visual: Game of Thrones. Los personajes deben ser nuevos</a:t>
            </a:r>
          </a:p>
          <a:p>
            <a:pPr>
              <a:spcAft>
                <a:spcPts val="600"/>
              </a:spcAft>
              <a:defRPr sz="1800"/>
            </a:pPr>
            <a:r>
              <a:t>• Vara para juzgar la galería: que se reconozca un dragón, con cabeza y cuerpo o alas, y que no repita a otro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2. Datos: origen, permiso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Dino or Dragon? de agrigorev (Kaggle, versión 1). Licencia CC0</a:t>
            </a:r>
          </a:p>
          <a:p>
            <a:pPr>
              <a:spcAft>
                <a:spcPts val="600"/>
              </a:spcAft>
              <a:defRPr sz="1500"/>
            </a:pPr>
            <a:r>
              <a:t>• Imágenes sintéticas de Stable Diffusion v1.4; no son fotogramas de la serie</a:t>
            </a:r>
          </a:p>
          <a:p>
            <a:pPr>
              <a:spcAft>
                <a:spcPts val="600"/>
              </a:spcAft>
              <a:defRPr sz="1500"/>
            </a:pPr>
            <a:r>
              <a:t>• 965 dragones revisados: 0 archivos dañados y 0 duplicados</a:t>
            </a:r>
          </a:p>
          <a:p>
            <a:pPr>
              <a:spcAft>
                <a:spcPts val="600"/>
              </a:spcAft>
              <a:defRPr sz="1500"/>
            </a:pPr>
            <a:r>
              <a:t>• 9 descartadas: 5 cartas con texto, 1 negra, 2 recortes extremos, 1 foto de un dibujo</a:t>
            </a:r>
          </a:p>
          <a:p>
            <a:pPr>
              <a:spcAft>
                <a:spcPts val="600"/>
              </a:spcAft>
              <a:defRPr sz="1500"/>
            </a:pPr>
            <a:r>
              <a:t>• Versión final: 956 imágenes, misma para los tres experimentos</a:t>
            </a:r>
          </a:p>
          <a:p>
            <a:pPr>
              <a:spcAft>
                <a:spcPts val="600"/>
              </a:spcAft>
              <a:defRPr sz="1500"/>
            </a:pPr>
            <a:r>
              <a:t>• Preparación: RGB, 512×512 a 64×64 con Lanczos, normalización a [-1, 1]</a:t>
            </a:r>
          </a:p>
          <a:p>
            <a:pPr>
              <a:spcAft>
                <a:spcPts val="600"/>
              </a:spcAft>
              <a:defRPr sz="1500"/>
            </a:pPr>
            <a:r>
              <a:t>• Aumento: volteo horizontal aleatorio (p = 0,5)</a:t>
            </a:r>
          </a:p>
        </p:txBody>
      </p:sp>
      <p:pic>
        <p:nvPicPr>
          <p:cNvPr id="4" name="Picture 3" descr="muestra_carg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3. Arquitectura: DCGAN de 64×64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Elegida por ser la base más simple y estable para pocos datos y 64×64</a:t>
            </a:r>
          </a:p>
          <a:p>
            <a:pPr>
              <a:spcAft>
                <a:spcPts val="600"/>
              </a:spcAft>
              <a:defRPr sz="1800"/>
            </a:pPr>
            <a:r>
              <a:t>• Generador: z de 100 → 4 convoluciones transpuestas con BatchNorm y ReLU → Tanh</a:t>
            </a:r>
          </a:p>
          <a:p>
            <a:pPr>
              <a:spcAft>
                <a:spcPts val="600"/>
              </a:spcAft>
              <a:defRPr sz="1800"/>
            </a:pPr>
            <a:r>
              <a:t>• Canales del generador: 512, 256, 128, 64, 3 (3,6 millones de parámetros)</a:t>
            </a:r>
          </a:p>
          <a:p>
            <a:pPr>
              <a:spcAft>
                <a:spcPts val="600"/>
              </a:spcAft>
              <a:defRPr sz="1800"/>
            </a:pPr>
            <a:r>
              <a:t>• Discriminador: 4 convoluciones con BatchNorm y LeakyReLU(0,2) → 1 logit (2,8 millones)</a:t>
            </a:r>
          </a:p>
          <a:p>
            <a:pPr>
              <a:spcAft>
                <a:spcPts val="600"/>
              </a:spcAft>
              <a:defRPr sz="1800"/>
            </a:pPr>
            <a:r>
              <a:t>• Adam, lr 0,0002, betas (0,5; 0,999), lote 64, 600 épocas, semilla 42</a:t>
            </a:r>
          </a:p>
          <a:p>
            <a:pPr>
              <a:spcAft>
                <a:spcPts val="600"/>
              </a:spcAft>
              <a:defRPr sz="1800"/>
            </a:pPr>
            <a:r>
              <a:t>• Entrenada en Colab con GPU T4: unos 15 minutos por variante</a:t>
            </a:r>
          </a:p>
          <a:p>
            <a:pPr>
              <a:spcAft>
                <a:spcPts val="600"/>
              </a:spcAft>
              <a:defRPr sz="1800"/>
            </a:pPr>
            <a:r>
              <a:t>• El código regenera la galería desde los pesos y los vectores z guardados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4. Experimentos: hipótesis previas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Un solo cambio por variante; mismos datos, semilla, épocas, z y ruido fijo</a:t>
            </a:r>
          </a:p>
          <a:p>
            <a:pPr>
              <a:spcAft>
                <a:spcPts val="600"/>
              </a:spcAft>
              <a:defRPr sz="1800"/>
            </a:pPr>
            <a:r>
              <a:t>• Pérdida: no saturante (base) frente a minimax original</a:t>
            </a:r>
          </a:p>
          <a:p>
            <a:pPr>
              <a:spcAft>
                <a:spcPts val="600"/>
              </a:spcAft>
              <a:defRPr sz="1800"/>
            </a:pPr>
            <a:r>
              <a:t>• Hipótesis: creemos que la no saturante mejorará el aprendizaje porque minimax da gradientes casi nulos cuando D rechaza con confianza. Útil si aparecen dragones antes o mejores, sin perder diversidad</a:t>
            </a:r>
          </a:p>
          <a:p>
            <a:pPr>
              <a:spcAft>
                <a:spcPts val="600"/>
              </a:spcAft>
              <a:defRPr sz="1800"/>
            </a:pPr>
            <a:r>
              <a:t>• Estabilización: normalización espectral en D frente a BatchNorm</a:t>
            </a:r>
          </a:p>
          <a:p>
            <a:pPr>
              <a:spcAft>
                <a:spcPts val="600"/>
              </a:spcAft>
              <a:defRPr sz="1800"/>
            </a:pPr>
            <a:r>
              <a:t>• Hipótesis: creemos que mejorará estabilidad y diversidad porque limita a D. Útil si D(real) y D(fake) se alejan de 1 y 0 y el ruido fijo conserva diversidad</a:t>
            </a:r>
          </a:p>
          <a:p>
            <a:pPr>
              <a:spcAft>
                <a:spcPts val="600"/>
              </a:spcAft>
              <a:defRPr sz="1800"/>
            </a:pPr>
            <a:r>
              <a:t>• Hipótesis escritas antes de entrenar: docs/hypotheses/v3/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5. Resultados de los experimentos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Pérdida, hipótesis confirmada: con minimax D llega a pérdida ≈ 0 en 554 de 600 épocas y G no recibe gradiente; solo produce un patrón de tablero</a:t>
            </a:r>
          </a:p>
          <a:p>
            <a:pPr>
              <a:spcAft>
                <a:spcPts val="600"/>
              </a:spcAft>
              <a:defRPr sz="1500"/>
            </a:pPr>
            <a:r>
              <a:t>• Estabilización, hipótesis rechazada: D ya no domina (D(fake) ≈ 0,52) pero G colapsa en una mancha gris; la diversidad cae de 0,26 a 0,03</a:t>
            </a:r>
          </a:p>
          <a:p>
            <a:pPr>
              <a:spcAft>
                <a:spcPts val="600"/>
              </a:spcAft>
              <a:defRPr sz="1500"/>
            </a:pPr>
            <a:r>
              <a:t>• Curvas equilibradas no significaron un entrenamiento sano</a:t>
            </a:r>
          </a:p>
          <a:p>
            <a:pPr>
              <a:spcAft>
                <a:spcPts val="600"/>
              </a:spcAft>
              <a:defRPr sz="1500"/>
            </a:pPr>
            <a:r>
              <a:t>• La base es la única con siluetas variadas; diversidad ≈ 0,6</a:t>
            </a:r>
          </a:p>
          <a:p>
            <a:pPr>
              <a:spcAft>
                <a:spcPts val="600"/>
              </a:spcAft>
              <a:defRPr sz="1500"/>
            </a:pPr>
            <a:r>
              <a:t>• Modelo elegido: base, época 450. Entre 450 y 600 ya no mejora</a:t>
            </a:r>
          </a:p>
          <a:p>
            <a:pPr>
              <a:spcAft>
                <a:spcPts val="600"/>
              </a:spcAft>
              <a:defRPr sz="1500"/>
            </a:pPr>
            <a:r>
              <a:t>• Columnas de la figura: base, minimax, norm. espectral. Filas: épocas 0, 150, 300, 450, 600</a:t>
            </a:r>
          </a:p>
        </p:txBody>
      </p:sp>
      <p:pic>
        <p:nvPicPr>
          <p:cNvPr id="4" name="Picture 3" descr="v3_ruido_fijo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9595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6. Evidencia 1: rejilla de ruido fijo (base)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Los mismos 16 vectores z en las épocas 0, 10, 50, 150, 300, 450 y 600</a:t>
            </a:r>
          </a:p>
          <a:p>
            <a:pPr>
              <a:spcAft>
                <a:spcPts val="600"/>
              </a:spcAft>
              <a:defRPr sz="1500"/>
            </a:pPr>
            <a:r>
              <a:t>• Época 50: solo textura. Época 150: aparecen trazos de alas y color. Época 300: siluetas</a:t>
            </a:r>
          </a:p>
          <a:p>
            <a:pPr>
              <a:spcAft>
                <a:spcPts val="600"/>
              </a:spcAft>
              <a:defRPr sz="1500"/>
            </a:pPr>
            <a:r>
              <a:t>• De 450 a 600 las siluetas casi no cambian</a:t>
            </a:r>
          </a:p>
          <a:p>
            <a:pPr>
              <a:spcAft>
                <a:spcPts val="600"/>
              </a:spcAft>
              <a:defRPr sz="1500"/>
            </a:pPr>
            <a:r>
              <a:t>• Las 16 posiciones siguen siendo distintas entre sí: no hay colapso en la base</a:t>
            </a:r>
          </a:p>
        </p:txBody>
      </p:sp>
      <p:pic>
        <p:nvPicPr>
          <p:cNvPr id="4" name="Picture 3" descr="v3_evolucion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23360"/>
            <a:ext cx="11247120" cy="18075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7. Evidencia 2: curvas de pérdida interpretadas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Base: G alta (≈ 5) y D baja con picos periódicos; D domina 268 épocas, señal de alarma, pero G sigue aprendiendo</a:t>
            </a:r>
          </a:p>
          <a:p>
            <a:pPr>
              <a:spcAft>
                <a:spcPts val="600"/>
              </a:spcAft>
              <a:defRPr sz="1500"/>
            </a:pPr>
            <a:r>
              <a:t>• Minimax: D ≈ 0 y G ≈ 0 casi todo el tiempo. Es saturación, no éxito</a:t>
            </a:r>
          </a:p>
          <a:p>
            <a:pPr>
              <a:spcAft>
                <a:spcPts val="600"/>
              </a:spcAft>
              <a:defRPr sz="1500"/>
            </a:pPr>
            <a:r>
              <a:t>• Norm. espectral: curvas planas y enfrentadas (D ≈ 0,40; G ≈ 0,68), pero las imágenes colapsaron</a:t>
            </a:r>
          </a:p>
          <a:p>
            <a:pPr>
              <a:spcAft>
                <a:spcPts val="600"/>
              </a:spcAft>
              <a:defRPr sz="1500"/>
            </a:pPr>
            <a:r>
              <a:t>• Las pérdidas de G no son comparables entre variantes: tienen objetivos distintos</a:t>
            </a:r>
          </a:p>
          <a:p>
            <a:pPr>
              <a:spcAft>
                <a:spcPts val="600"/>
              </a:spcAft>
              <a:defRPr sz="1500"/>
            </a:pPr>
            <a:r>
              <a:t>• Conclusión: la curva sola engaña; hay que mirarla junto al ruido fijo</a:t>
            </a:r>
          </a:p>
        </p:txBody>
      </p:sp>
      <p:pic>
        <p:nvPicPr>
          <p:cNvPr id="4" name="Picture 3" descr="v3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3596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8. Problemas encontrados y decisiones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Primera selección: solo cuerpo completo, 22 imágenes</a:t>
            </a:r>
          </a:p>
          <a:p>
            <a:pPr>
              <a:spcAft>
                <a:spcPts val="600"/>
              </a:spcAft>
              <a:defRPr sz="1800"/>
            </a:pPr>
            <a:r>
              <a:t>• Resultado: colapso de modos en las tres variantes; 0 de 600 candidatos aceptados</a:t>
            </a:r>
          </a:p>
          <a:p>
            <a:pPr>
              <a:spcAft>
                <a:spcPts val="600"/>
              </a:spcAft>
              <a:defRPr sz="1800"/>
            </a:pPr>
            <a:r>
              <a:t>• Decisión: usar todos los dragones revisados (956), volteo y 64 canales base</a:t>
            </a:r>
          </a:p>
          <a:p>
            <a:pPr>
              <a:spcAft>
                <a:spcPts val="600"/>
              </a:spcAft>
              <a:defRPr sz="1800"/>
            </a:pPr>
            <a:r>
              <a:t>• Decisión: cambiar la estabilización de ruido en D a normalización espectral</a:t>
            </a:r>
          </a:p>
          <a:p>
            <a:pPr>
              <a:spcAft>
                <a:spcPts val="600"/>
              </a:spcAft>
              <a:defRPr sz="1800"/>
            </a:pPr>
            <a:r>
              <a:t>• Entrenamiento final: la normalización espectral volvió a colapsar</a:t>
            </a:r>
          </a:p>
          <a:p>
            <a:pPr>
              <a:spcAft>
                <a:spcPts val="600"/>
              </a:spcAft>
              <a:defRPr sz="1800"/>
            </a:pPr>
            <a:r>
              <a:t>• Calidad: el modelo aprende color, fondo y trazos, pero no la anatomía completa</a:t>
            </a:r>
          </a:p>
          <a:p>
            <a:pPr>
              <a:spcAft>
                <a:spcPts val="600"/>
              </a:spcAft>
              <a:defRPr sz="1800"/>
            </a:pPr>
            <a:r>
              <a:t>• Ningún candidato llegó a "dragón claro"; se declara en la galería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9. Galería: diez personajes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200 candidatos generados (semillas 1000–1199). Tasa de selección: 10 ÷ 200 = 5 %</a:t>
            </a:r>
          </a:p>
          <a:p>
            <a:pPr>
              <a:spcAft>
                <a:spcPts val="600"/>
              </a:spcAft>
              <a:defRPr sz="1500"/>
            </a:pPr>
            <a:r>
              <a:t>• Criterio: seis notas de 0 a 2 definidas antes de ver los candidatos</a:t>
            </a:r>
          </a:p>
          <a:p>
            <a:pPr>
              <a:spcAft>
                <a:spcPts val="600"/>
              </a:spcAft>
              <a:defRPr sz="1500"/>
            </a:pPr>
            <a:r>
              <a:t>• Resultado: 0 aceptados, 12 en reserva, 188 descartados. Los diez salen de la reserva</a:t>
            </a:r>
          </a:p>
          <a:p>
            <a:pPr>
              <a:spcAft>
                <a:spcPts val="600"/>
              </a:spcAft>
              <a:defRPr sz="1500"/>
            </a:pPr>
            <a:r>
              <a:t>• Son siluetas de dragón, no dragones nítidos</a:t>
            </a:r>
          </a:p>
          <a:p>
            <a:pPr>
              <a:spcAft>
                <a:spcPts val="600"/>
              </a:spcAft>
              <a:defRPr sz="1500"/>
            </a:pPr>
            <a:r>
              <a:t>• Fila 1: Ceniza Alta (centinela), Musgo Viejo (guardián), Garra Sombría (acechador), Ámbar Errante (mensajero), Fauce Carmesí (heraldo)</a:t>
            </a:r>
          </a:p>
          <a:p>
            <a:pPr>
              <a:spcAft>
                <a:spcPts val="600"/>
              </a:spcAft>
              <a:defRPr sz="1500"/>
            </a:pPr>
            <a:r>
              <a:t>• Fila 2: Vela Nocturna (exploradora), Espina Jade (custodio), Brasa Celeste (campeón), Llama Dorada (portadora del fuego), Bruma Gris (espectro)</a:t>
            </a:r>
          </a:p>
        </p:txBody>
      </p:sp>
      <p:pic>
        <p:nvPicPr>
          <p:cNvPr id="4" name="Picture 3" descr="galeria_mosa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23360"/>
            <a:ext cx="662940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10. Evidencia 3: vecinos más cercanos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Cada personaje (izquierda) junto a sus 5 imágenes de entrenamiento más parecidas</a:t>
            </a:r>
          </a:p>
          <a:p>
            <a:pPr>
              <a:spcAft>
                <a:spcPts val="600"/>
              </a:spcAft>
              <a:defRPr sz="1500"/>
            </a:pPr>
            <a:r>
              <a:t>• Métrica: características de ResNet-18 preentrenada; también píxeles y forma</a:t>
            </a:r>
          </a:p>
          <a:p>
            <a:pPr>
              <a:spcAft>
                <a:spcPts val="600"/>
              </a:spcAft>
              <a:defRPr sz="1500"/>
            </a:pPr>
            <a:r>
              <a:t>• Se compara además contra las imágenes volteadas</a:t>
            </a:r>
          </a:p>
          <a:p>
            <a:pPr>
              <a:spcAft>
                <a:spcPts val="600"/>
              </a:spcAft>
              <a:defRPr sz="1500"/>
            </a:pPr>
            <a:r>
              <a:t>• Referencia: distancia entre imágenes reales (percentil 5 = 0,240)</a:t>
            </a:r>
          </a:p>
          <a:p>
            <a:pPr>
              <a:spcAft>
                <a:spcPts val="600"/>
              </a:spcAft>
              <a:defRPr sz="1500"/>
            </a:pPr>
            <a:r>
              <a:t>• Los diez quedan entre 0,60 y 0,74: ninguno es copia</a:t>
            </a:r>
          </a:p>
          <a:p>
            <a:pPr>
              <a:spcAft>
                <a:spcPts val="600"/>
              </a:spcAft>
              <a:defRPr sz="1500"/>
            </a:pPr>
            <a:r>
              <a:t>• Dos alertas en píxeles (04 y 07): coincide el fondo pardo, no la figura</a:t>
            </a:r>
          </a:p>
          <a:p>
            <a:pPr>
              <a:spcAft>
                <a:spcPts val="600"/>
              </a:spcAft>
              <a:defRPr sz="1500"/>
            </a:pPr>
            <a:r>
              <a:t>• Los vecinos comparten paleta y fondo con el personaje</a:t>
            </a:r>
          </a:p>
          <a:p>
            <a:pPr>
              <a:spcAft>
                <a:spcPts val="600"/>
              </a:spcAft>
              <a:defRPr sz="1500"/>
            </a:pPr>
            <a:r>
              <a:t>• Prueba del método: copia exacta y copia volteada dan distancia 0</a:t>
            </a:r>
          </a:p>
        </p:txBody>
      </p:sp>
      <p:pic>
        <p:nvPicPr>
          <p:cNvPr id="4" name="Picture 3" descr="vecinos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877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11. Reflexión, conclusiones y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Más difícil de defender: Ámbar Errante (04). Es el más cercano en píxeles (0,281) a una imagen real: mismo fondo pardo y tonos naranjas, aunque otra figura</a:t>
            </a:r>
          </a:p>
          <a:p>
            <a:pPr>
              <a:spcAft>
                <a:spcPts val="600"/>
              </a:spcAft>
              <a:defRPr sz="1800"/>
            </a:pPr>
            <a:r>
              <a:t>• Qué aprendió la GAN: primero fondos, paletas y trazos de escamas; la estructura del dragón solo en parte. Lo nuevo es la forma; el color viene del dataset</a:t>
            </a:r>
          </a:p>
          <a:p>
            <a:pPr>
              <a:spcAft>
                <a:spcPts val="600"/>
              </a:spcAft>
              <a:defRPr sz="1800"/>
            </a:pPr>
            <a:r>
              <a:t>• La pérdida no saturante fue necesaria; la normalización espectral, tal como se aplicó, empeoró</a:t>
            </a:r>
          </a:p>
          <a:p>
            <a:pPr>
              <a:spcAft>
                <a:spcPts val="600"/>
              </a:spcAft>
              <a:defRPr sz="1800"/>
            </a:pPr>
            <a:r>
              <a:t>• Los datos importaron más que la arquitectura: de 22 a 956 imágenes se pasó de colapso a variedad</a:t>
            </a:r>
          </a:p>
          <a:p>
            <a:pPr>
              <a:spcAft>
                <a:spcPts val="600"/>
              </a:spcAft>
              <a:defRPr sz="1800"/>
            </a:pPr>
            <a:r>
              <a:t>• Limitaciones: datos sintéticos de estilos mezclados, 64×64, una sola semilla y evaluación visual subjetiva</a:t>
            </a:r>
          </a:p>
          <a:p>
            <a:pPr>
              <a:spcAft>
                <a:spcPts val="600"/>
              </a:spcAft>
              <a:defRPr sz="1800"/>
            </a:pPr>
            <a:r>
              <a:t>• Estar lejos de los vecinos no prueba novedad: también refleja menor calidad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12. Matriz de evidencias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22960"/>
                <a:gridCol w="4023360"/>
                <a:gridCol w="3474720"/>
              </a:tblGrid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Evidencia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Diap.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Conclusión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Limitación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Universo y datos con licencia CC0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956 imágenes revisadas y documentadas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Datos sintéticos de Stable Diffusion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DCGAN y código que regenera la galería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Regenera los 10 con diferencia máxima de 1/255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Igualdad exacta solo en el mismo entorno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Experimento de pérdida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Hipótesis confirmada: minimax satura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Una sola semilla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Experimento de estabilización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Hipótesis rechazada: colapso con norm. espectral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se probó otra tasa para 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Rejilla de ruido fijo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Siluetas desde la época 150; sin colapso en la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Solo 16 vectores z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Curvas de pérdida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 domina en la base; curvas planas no implican calidad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miden calidad ni novedad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Galería y tasa de selección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 de 200 (5 %); 0 aceptados, 10 de reserva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Siluetas abstractas; evaluación subjetiva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Vecinos más cercanos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Ninguna copia; dos alertas por fondo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prueban novedad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Fallos y colapso de modos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Colapso con 22 imágenes y con norm. espectral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Causa no aislada con experimentos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A. Criterios de evaluación de candidatos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dragon: ¿se reconoce como dragón?</a:t>
            </a:r>
          </a:p>
          <a:p>
            <a:pPr>
              <a:spcAft>
                <a:spcPts val="600"/>
              </a:spcAft>
              <a:defRPr sz="1800"/>
            </a:pPr>
            <a:r>
              <a:t>• cuerpo_alas: ¿se ven cuerpo y alas?</a:t>
            </a:r>
          </a:p>
          <a:p>
            <a:pPr>
              <a:spcAft>
                <a:spcPts val="600"/>
              </a:spcAft>
              <a:defRPr sz="1800"/>
            </a:pPr>
            <a:r>
              <a:t>• universo: ¿encaja en fantasía medieval?</a:t>
            </a:r>
          </a:p>
          <a:p>
            <a:pPr>
              <a:spcAft>
                <a:spcPts val="600"/>
              </a:spcAft>
              <a:defRPr sz="1800"/>
            </a:pPr>
            <a:r>
              <a:t>• anatomia: ¿tiene deformaciones?</a:t>
            </a:r>
          </a:p>
          <a:p>
            <a:pPr>
              <a:spcAft>
                <a:spcPts val="600"/>
              </a:spcAft>
              <a:defRPr sz="1800"/>
            </a:pPr>
            <a:r>
              <a:t>• distinto: ¿se diferencia de otros candidatos?</a:t>
            </a:r>
          </a:p>
          <a:p>
            <a:pPr>
              <a:spcAft>
                <a:spcPts val="600"/>
              </a:spcAft>
              <a:defRPr sz="1800"/>
            </a:pPr>
            <a:r>
              <a:t>• novedad: ¿se diferencia del entrenamiento?</a:t>
            </a:r>
          </a:p>
          <a:p>
            <a:pPr>
              <a:spcAft>
                <a:spcPts val="600"/>
              </a:spcAft>
              <a:defRPr sz="1800"/>
            </a:pPr>
            <a:r>
              <a:t>• Aceptar: dragon = 2, ningún 0 y suma ≥ 9. Reserva: dragon ≥ 1, ningún 0 y suma de 7 u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B. Vecinos más cercanos en píxeles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Alertas en los personajes 04 y 07 (percentil 5 = 0,303)</a:t>
            </a:r>
          </a:p>
          <a:p>
            <a:pPr>
              <a:spcAft>
                <a:spcPts val="600"/>
              </a:spcAft>
              <a:defRPr sz="1500"/>
            </a:pPr>
            <a:r>
              <a:t>• La vecina común es una cabeza marrón sobre fondo pardo liso</a:t>
            </a:r>
          </a:p>
        </p:txBody>
      </p:sp>
      <p:pic>
        <p:nvPicPr>
          <p:cNvPr id="4" name="Picture 3" descr="vecinos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877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C. Diversidad del ruido fijo por época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Distancia media entre las 16 muestras; cerca de 0 significa colapso</a:t>
            </a:r>
          </a:p>
        </p:txBody>
      </p:sp>
      <p:pic>
        <p:nvPicPr>
          <p:cNvPr id="4" name="Picture 3" descr="v3_divers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307241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D. Uso de asistentes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Se usaron Codex y Claude Code para programar, revisar el dataset y documentar</a:t>
            </a:r>
          </a:p>
          <a:p>
            <a:pPr>
              <a:spcAft>
                <a:spcPts val="600"/>
              </a:spcAft>
              <a:defRPr sz="1800"/>
            </a:pPr>
            <a:r>
              <a:t>• Detalle en README.md</a:t>
            </a:r>
          </a:p>
          <a:p>
            <a:pPr>
              <a:spcAft>
                <a:spcPts val="600"/>
              </a:spcAft>
              <a:defRPr sz="1800"/>
            </a:pPr>
            <a:r>
              <a:t>• Ninguna imagen de la galería proviene de un generador externo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