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CEC"/>
                </a:solidFill>
                <a:latin typeface="Segoe UI"/>
              </a:rPr>
              <a:t>1. Dragones de fantasía medieval con una GAN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Proyecto 2 · Deep Learning 2026 · Universidad del Valle de Guatemala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Daniel Estrada y Daniela Ramírez de León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Repositorio: https://github.com/DannyEst6109/Proyecto-2---GAN---Deep-Learning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Universo: dragones de fantasía medieval, con escamas, cuernos y alas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Estilo: ilustración, colores terrosos y oscuros, cielos y fondos simples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Referencia visual: Game of Thrones. Los personajes deben ser nuevos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Vara para juzgar la galería: que se reconozca un dragón, con cabeza y cuerpo o alas, y que no repita a otro</a:t>
            </a:r>
          </a:p>
        </p:txBody>
      </p:sp>
      <p:pic>
        <p:nvPicPr>
          <p:cNvPr id="6" name="Picture 5" descr="galeria_nomb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91965"/>
            <a:ext cx="11064240" cy="13830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2. Datos: origen, permiso y preparación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Dino or Dragon? de agrigorev (Kaggle, versión 1). Licencia CC0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Imágenes sintéticas de Stable Diffusion v1.4; no son fotogramas de la serie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965 dragones revisados: 0 archivos dañados y 0 duplicados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9 descartadas: 5 cartas con texto, 1 negra, 2 recortes extremos, 1 foto de un dibujo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Versión final: 956 imágenes, misma para los tres experimentos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Preparación: RGB, 512×512 a 64×64 con Lanczos, normalización a [-1, 1]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Aumento: volteo horizontal aleatorio (p = 0,5)</a:t>
            </a:r>
          </a:p>
        </p:txBody>
      </p:sp>
      <p:pic>
        <p:nvPicPr>
          <p:cNvPr id="6" name="Picture 5" descr="muestra_carg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8463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3. Arquitectura: DCGAN de 64×64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Elegida por ser la base más simple y estable para pocos datos y 64×64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Generador: z de 100 → 4 convoluciones transpuestas con BatchNorm y ReLU → Tanh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Canales del generador: 512, 256, 128, 64, 3 (3,6 millones de parámetros)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Discriminador: 4 convoluciones con BatchNorm y LeakyReLU(0,2) → 1 logit (2,8 millones)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Adam, lr 0,0002, betas (0,5; 0,999), lote 64, 600 épocas, semilla 42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Entrenada en Colab con GPU T4: unos 15 minutos por variante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El código regenera la galería desde los pesos y los vectores z guardados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4. Experimentos: hipótesis previas y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Un solo cambio por variante; mismos datos, semilla, épocas, z y ruido fijo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Pérdida: no saturante (base) frente a minimax original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Hipótesis: creemos que la no saturante mejorará el aprendizaje porque minimax da gradientes casi nulos cuando D rechaza con confianza. Útil si aparecen dragones antes o mejores, sin perder diversidad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Estabilización: normalización espectral en D frente a BatchNorm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Hipótesis: creemos que mejorará estabilidad y diversidad porque limita a D. Útil si D(real) y D(fake) se alejan de 1 y 0 y el ruido fijo conserva diversidad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Hipótesis escritas antes de entrenar: docs/hypotheses/v3/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5. Resultados de los experimentos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Pérdida, hipótesis confirmada: con minimax D llega a pérdida ≈ 0 en 554 de 600 épocas y G no recibe gradiente; solo produce un patrón de tablero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Estabilización, hipótesis rechazada: D ya no domina (D(fake) ≈ 0,52) pero G colapsa en una mancha gris; la diversidad cae de 0,26 a 0,03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Curvas equilibradas no significaron un entrenamiento sano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La base es la única con siluetas variadas; diversidad ≈ 0,6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Modelo elegido: base, época 450. Entre 450 y 600 ya no mejora</a:t>
            </a:r>
          </a:p>
        </p:txBody>
      </p:sp>
      <p:pic>
        <p:nvPicPr>
          <p:cNvPr id="6" name="Picture 5" descr="v3_ruido_fijo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372" y="3657600"/>
            <a:ext cx="7550774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6. Evidencia 1: rejilla de ruido fijo (base)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Los mismos 16 vectores z en las épocas 0, 10, 50, 150, 300, 450 y 600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Época 50: solo textura. Época 150: aparecen trazos de alas y color. Época 300: siluetas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De 450 a 600 las siluetas casi no cambian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Las 16 posiciones siguen siendo distintas entre sí: no hay colapso en la base</a:t>
            </a:r>
          </a:p>
        </p:txBody>
      </p:sp>
      <p:pic>
        <p:nvPicPr>
          <p:cNvPr id="6" name="Picture 5" descr="v3_evolucion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094389"/>
            <a:ext cx="11064240" cy="177818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7. Evidencia 2: curvas de pérdida interpretadas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Base: G alta (≈ 5) y D baja con picos periódicos; D domina 268 épocas, señal de alarma, pero G sigue aprendiendo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Minimax: D ≈ 0 y G ≈ 0 casi todo el tiempo. Es saturación, no éxito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Norm. espectral: curvas planas y enfrentadas (D ≈ 0,40; G ≈ 0,68), pero las imágenes colapsaron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Las pérdidas de G no son comparables entre variantes: tienen objetivos distintos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Conclusión: la curva sola engaña; hay que mirarla junto al ruido fijo</a:t>
            </a:r>
          </a:p>
        </p:txBody>
      </p:sp>
      <p:pic>
        <p:nvPicPr>
          <p:cNvPr id="6" name="Picture 5" descr="v3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21208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8. Problemas encontrados y decisiones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Primera selección: solo cuerpo completo, 22 imágenes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Resultado: colapso de modos en las tres variantes; 0 de 600 candidatos aceptados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Decisión: usar todos los dragones revisados (956), volteo y 64 canales base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Decisión: cambiar la estabilización de ruido en D a normalización espectral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Entrenamiento final: la normalización espectral volvió a colapsar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Calidad: el modelo aprende color, fondo y trazos, pero no la anatomía completa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Con 200 candidatos ninguno llegó a "dragón claro"; se amplió a 2 000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9. Galería: diez personajes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2 000 candidatos generados (semillas 1000–2999). Tasa de selección: 10 ÷ 2 000 = 0,5 %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Primera ronda de 200: ninguno aceptado. Se amplió a 2 000 con el mismo modelo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Se revisaron los 2 000 en hojas de contacto y se calificaron uno por uno los 72 mejores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Resultado: 9 aceptados (dragón claro), 63 en reserva y 1 928 descartados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Los diez: 8 aceptados y 2 de reserva, elegidos por variedad de pose y color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Nombre y clase de cada personaje puestos por el equipo</a:t>
            </a:r>
          </a:p>
        </p:txBody>
      </p:sp>
      <p:pic>
        <p:nvPicPr>
          <p:cNvPr id="6" name="Picture 5" descr="galeria_nomb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91965"/>
            <a:ext cx="11064240" cy="13830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10. Evidencia 3: vecinos más cercanos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Arriba cada personaje; abajo su imagen de entrenamiento más parecida y la distancia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Métrica: ResNet-18 preentrenada; también píxeles y forma, y contra imágenes volteadas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Referencia: distancia entre imágenes reales (percentil 5 = 0,240)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Los diez quedan entre 0,60 y 0,73: ninguno es copia y no hay alertas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Los vecinos comparten paleta y fondo; un mismo dragón real es vecino de varios personajes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Prueba del método: una copia exacta y una volteada dan distancia 0</a:t>
            </a:r>
          </a:p>
        </p:txBody>
      </p:sp>
      <p:pic>
        <p:nvPicPr>
          <p:cNvPr id="6" name="Picture 5" descr="vecinos_cnn_resu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29532"/>
            <a:ext cx="11064240" cy="25078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11. Reflexión, conclusiones y limitaciones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Más difícil de defender: Vela Nocturna (08). En forma queda a 0,771 de una cabeza real de perfil, casi en el umbral (0,768): misma pose y sombras, aunque otra cresta, color y fondo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Qué aprendió la GAN: el encuadre más repetido del dataset. 4 de los 10 personajes son cabezas de perfil; lo nuevo son los detalles y el color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La pérdida no saturante fue necesaria; la normalización espectral, tal como se aplicó, empeoró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Los datos importaron más que la arquitectura: de 22 a 956 imágenes se pasó de colapso a variedad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Limitaciones: solo 9 de 2 000 son dragones claros; datos sintéticos de estilos mezclados, 64×64, una sola semilla y evaluación visual subjetiva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Estar lejos de los vecinos no prueba novedad: también refleja menor detalle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12. Matriz de evidencias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3931920"/>
                <a:gridCol w="3291840"/>
              </a:tblGrid>
              <a:tr h="48463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ECEC"/>
                          </a:solidFill>
                          <a:latin typeface="Segoe UI"/>
                        </a:rPr>
                        <a:t>Evidencia</a:t>
                      </a:r>
                    </a:p>
                  </a:txBody>
                  <a:tcPr>
                    <a:solidFill>
                      <a:srgbClr val="E86A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ECEC"/>
                          </a:solidFill>
                          <a:latin typeface="Segoe UI"/>
                        </a:rPr>
                        <a:t>Diap.</a:t>
                      </a:r>
                    </a:p>
                  </a:txBody>
                  <a:tcPr>
                    <a:solidFill>
                      <a:srgbClr val="E86A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ECEC"/>
                          </a:solidFill>
                          <a:latin typeface="Segoe UI"/>
                        </a:rPr>
                        <a:t>Conclusión</a:t>
                      </a:r>
                    </a:p>
                  </a:txBody>
                  <a:tcPr>
                    <a:solidFill>
                      <a:srgbClr val="E86A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ECEC"/>
                          </a:solidFill>
                          <a:latin typeface="Segoe UI"/>
                        </a:rPr>
                        <a:t>Limitación</a:t>
                      </a:r>
                    </a:p>
                  </a:txBody>
                  <a:tcPr>
                    <a:solidFill>
                      <a:srgbClr val="E86A33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Universo y datos con licencia CC0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1, 2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956 imágenes revisadas y documentadas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Datos sintéticos de Stable Diffusion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DCGAN y código que regenera la galería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Regenera los 10 PNG idénticos byte a byte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Igualdad exacta solo en el mismo entorno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Experimento de pérdida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4, 5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Hipótesis confirmada: minimax satura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Una sola semilla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Experimento de estabilización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4, 5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Hipótesis rechazada: colapso con norm. espectral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No se probó otra tasa para D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Rejilla de ruido fijo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5, 6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Siluetas desde la época 150; sin colapso en la base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Solo 16 vectores z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Curvas de pérdida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D domina en la base; curvas planas no implican calidad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No miden calidad ni novedad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Galería y tasa de selección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10 de 2 000 (0,5 %): 8 aceptados y 2 de reserva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Anatomía incompleta; evaluación subjetiva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Vecinos más cercanos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Ninguna copia ni alerta; comparten paleta y fondo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No prueban novedad</a:t>
                      </a:r>
                    </a:p>
                  </a:txBody>
                  <a:tcPr>
                    <a:solidFill>
                      <a:srgbClr val="161A24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Fallos y colapso de modos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5, 8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Colapso con 22 imágenes y con norm. espectral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CECEC"/>
                          </a:solidFill>
                          <a:latin typeface="Segoe UI"/>
                        </a:rPr>
                        <a:t>Causa no aislada con experimentos</a:t>
                      </a:r>
                    </a:p>
                  </a:txBody>
                  <a:tcPr>
                    <a:solidFill>
                      <a:srgbClr val="2228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Anexo A. Criterios de evaluación de candidatos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dragon: ¿se reconoce como dragón?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cuerpo_alas: ¿se ven cuerpo y alas?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universo: ¿encaja en fantasía medieval?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anatomia: ¿tiene deformaciones?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distinto: ¿se diferencia de otros candidatos?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novedad: ¿se diferencia del entrenamiento?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Aceptar: dragon = 2, ningún 0 y suma ≥ 9. Reserva: dragon ≥ 1, ningún 0 y suma de 7 u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Anexo B. Vecinos más cercanos: detalle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Cada fila: personaje y sus 5 vecinas más cercanas con ResNet-18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En píxeles tampoco hay alertas: el más cercano es Llama Dorada (09), a 0,324 (umbral 0,303)</a:t>
            </a:r>
          </a:p>
        </p:txBody>
      </p:sp>
      <p:pic>
        <p:nvPicPr>
          <p:cNvPr id="6" name="Picture 5" descr="vecinos_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4488" y="1371600"/>
            <a:ext cx="2584704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Anexo C. Diversidad del ruido fijo por época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500" b="1">
                <a:solidFill>
                  <a:srgbClr val="E86A33"/>
                </a:solidFill>
                <a:latin typeface="Segoe UI"/>
              </a:rPr>
              <a:t>▸ </a:t>
            </a:r>
            <a:r>
              <a:rPr sz="1500" b="0">
                <a:solidFill>
                  <a:srgbClr val="ECECEC"/>
                </a:solidFill>
                <a:latin typeface="Segoe UI"/>
              </a:rPr>
              <a:t>Distancia media entre las 16 muestras; cerca de 0 significa colapso</a:t>
            </a:r>
          </a:p>
        </p:txBody>
      </p:sp>
      <p:pic>
        <p:nvPicPr>
          <p:cNvPr id="6" name="Picture 5" descr="v3_divers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10625"/>
            <a:ext cx="5212080" cy="296826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CECEC"/>
                </a:solidFill>
                <a:latin typeface="Segoe UI"/>
              </a:rPr>
              <a:t>Anexo D. Uso de asistentes de IA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280160" cy="64008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6400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B5"/>
                </a:solidFill>
                <a:latin typeface="Segoe UI"/>
              </a:rPr>
              <a:t>Dragones de fantasía medieval · GAN  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CECEC"/>
                </a:solidFill>
                <a:latin typeface="Segoe UI"/>
              </a:rPr>
              <a:t/>
            </a: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Se usaron Codex y Claude Code para programar, revisar el dataset y documentar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Detalle en README.md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E86A33"/>
                </a:solidFill>
                <a:latin typeface="Segoe UI"/>
              </a:rPr>
              <a:t>▸ </a:t>
            </a:r>
            <a:r>
              <a:rPr sz="1800" b="0">
                <a:solidFill>
                  <a:srgbClr val="ECECEC"/>
                </a:solidFill>
                <a:latin typeface="Segoe UI"/>
              </a:rPr>
              <a:t>Ninguna imagen de la galería proviene de un generador externo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